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6788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6788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36121"/>
            <a:ext cx="9144000" cy="1073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368" y="641845"/>
            <a:ext cx="357949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203" y="1072118"/>
            <a:ext cx="5158105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6788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hyperlink" Target="mailto:dhanalakshminadar04@gmail.com" TargetMode="External"/><Relationship Id="rId12" Type="http://schemas.openxmlformats.org/officeDocument/2006/relationships/hyperlink" Target="mailto:kkaallyyaannii123@gmail.com" TargetMode="External"/><Relationship Id="rId13" Type="http://schemas.openxmlformats.org/officeDocument/2006/relationships/hyperlink" Target="mailto:eellaakkiiaa123@gmail.com" TargetMode="External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hyperlink" Target="https://github.com/mattdelaune/PowerBI_Healthcare_Dashboard/blob/master/Hospital%20Inights%20Dashboard.pbix" TargetMode="External"/><Relationship Id="rId4" Type="http://schemas.openxmlformats.org/officeDocument/2006/relationships/hyperlink" Target="https://www.youtube.com/results?search_query=power%2Bbi%2Bhealthcare%2Bdashboard%2Btutorial" TargetMode="External"/><Relationship Id="rId5" Type="http://schemas.openxmlformats.org/officeDocument/2006/relationships/hyperlink" Target="https://journal.ijresm.com/index.php/ijresm/article/view/2670?utm_source=chatgpt.com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64882" y="652908"/>
              <a:ext cx="3971925" cy="485140"/>
            </a:xfrm>
            <a:custGeom>
              <a:avLst/>
              <a:gdLst/>
              <a:ahLst/>
              <a:cxnLst/>
              <a:rect l="l" t="t" r="r" b="b"/>
              <a:pathLst>
                <a:path w="3971925" h="485140">
                  <a:moveTo>
                    <a:pt x="3890987" y="0"/>
                  </a:moveTo>
                  <a:lnTo>
                    <a:pt x="80838" y="0"/>
                  </a:lnTo>
                  <a:lnTo>
                    <a:pt x="49498" y="6394"/>
                  </a:lnTo>
                  <a:lnTo>
                    <a:pt x="23789" y="23787"/>
                  </a:lnTo>
                  <a:lnTo>
                    <a:pt x="6394" y="49495"/>
                  </a:lnTo>
                  <a:lnTo>
                    <a:pt x="0" y="80835"/>
                  </a:lnTo>
                  <a:lnTo>
                    <a:pt x="0" y="404177"/>
                  </a:lnTo>
                  <a:lnTo>
                    <a:pt x="6394" y="435519"/>
                  </a:lnTo>
                  <a:lnTo>
                    <a:pt x="23789" y="461232"/>
                  </a:lnTo>
                  <a:lnTo>
                    <a:pt x="49498" y="478629"/>
                  </a:lnTo>
                  <a:lnTo>
                    <a:pt x="80838" y="485025"/>
                  </a:lnTo>
                  <a:lnTo>
                    <a:pt x="3890987" y="485025"/>
                  </a:lnTo>
                  <a:lnTo>
                    <a:pt x="3922327" y="478629"/>
                  </a:lnTo>
                  <a:lnTo>
                    <a:pt x="3948036" y="461232"/>
                  </a:lnTo>
                  <a:lnTo>
                    <a:pt x="3965429" y="435519"/>
                  </a:lnTo>
                  <a:lnTo>
                    <a:pt x="3971823" y="404177"/>
                  </a:lnTo>
                  <a:lnTo>
                    <a:pt x="3971823" y="80835"/>
                  </a:lnTo>
                  <a:lnTo>
                    <a:pt x="3965429" y="49495"/>
                  </a:lnTo>
                  <a:lnTo>
                    <a:pt x="3948036" y="23787"/>
                  </a:lnTo>
                  <a:lnTo>
                    <a:pt x="3922327" y="6394"/>
                  </a:lnTo>
                  <a:lnTo>
                    <a:pt x="389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4882" y="652908"/>
              <a:ext cx="3971925" cy="485140"/>
            </a:xfrm>
            <a:custGeom>
              <a:avLst/>
              <a:gdLst/>
              <a:ahLst/>
              <a:cxnLst/>
              <a:rect l="l" t="t" r="r" b="b"/>
              <a:pathLst>
                <a:path w="3971925" h="485140">
                  <a:moveTo>
                    <a:pt x="0" y="80835"/>
                  </a:moveTo>
                  <a:lnTo>
                    <a:pt x="6394" y="49495"/>
                  </a:lnTo>
                  <a:lnTo>
                    <a:pt x="23789" y="23787"/>
                  </a:lnTo>
                  <a:lnTo>
                    <a:pt x="49498" y="6394"/>
                  </a:lnTo>
                  <a:lnTo>
                    <a:pt x="80838" y="0"/>
                  </a:lnTo>
                  <a:lnTo>
                    <a:pt x="3890987" y="0"/>
                  </a:lnTo>
                  <a:lnTo>
                    <a:pt x="3922327" y="6394"/>
                  </a:lnTo>
                  <a:lnTo>
                    <a:pt x="3948036" y="23787"/>
                  </a:lnTo>
                  <a:lnTo>
                    <a:pt x="3965429" y="49495"/>
                  </a:lnTo>
                  <a:lnTo>
                    <a:pt x="3971823" y="80835"/>
                  </a:lnTo>
                  <a:lnTo>
                    <a:pt x="3971823" y="404177"/>
                  </a:lnTo>
                  <a:lnTo>
                    <a:pt x="3965429" y="435519"/>
                  </a:lnTo>
                  <a:lnTo>
                    <a:pt x="3948036" y="461232"/>
                  </a:lnTo>
                  <a:lnTo>
                    <a:pt x="3922327" y="478629"/>
                  </a:lnTo>
                  <a:lnTo>
                    <a:pt x="3890987" y="485025"/>
                  </a:lnTo>
                  <a:lnTo>
                    <a:pt x="80838" y="485025"/>
                  </a:lnTo>
                  <a:lnTo>
                    <a:pt x="49498" y="478629"/>
                  </a:lnTo>
                  <a:lnTo>
                    <a:pt x="23789" y="461232"/>
                  </a:lnTo>
                  <a:lnTo>
                    <a:pt x="6394" y="435519"/>
                  </a:lnTo>
                  <a:lnTo>
                    <a:pt x="0" y="404177"/>
                  </a:lnTo>
                  <a:lnTo>
                    <a:pt x="0" y="80835"/>
                  </a:lnTo>
                  <a:close/>
                </a:path>
              </a:pathLst>
            </a:custGeom>
            <a:ln w="19049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17325"/>
              <a:ext cx="7571295" cy="1261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3999" cy="291044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0498" y="768985"/>
              <a:ext cx="3423500" cy="437451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937923" y="971034"/>
              <a:ext cx="3041015" cy="3041015"/>
            </a:xfrm>
            <a:custGeom>
              <a:avLst/>
              <a:gdLst/>
              <a:ahLst/>
              <a:cxnLst/>
              <a:rect l="l" t="t" r="r" b="b"/>
              <a:pathLst>
                <a:path w="3041015" h="3041015">
                  <a:moveTo>
                    <a:pt x="2149983" y="0"/>
                  </a:moveTo>
                  <a:lnTo>
                    <a:pt x="3040862" y="890879"/>
                  </a:lnTo>
                  <a:lnTo>
                    <a:pt x="3040862" y="2149983"/>
                  </a:lnTo>
                  <a:lnTo>
                    <a:pt x="2149983" y="3040862"/>
                  </a:lnTo>
                  <a:lnTo>
                    <a:pt x="890877" y="3040862"/>
                  </a:lnTo>
                  <a:lnTo>
                    <a:pt x="0" y="2149983"/>
                  </a:lnTo>
                  <a:lnTo>
                    <a:pt x="0" y="890879"/>
                  </a:lnTo>
                  <a:lnTo>
                    <a:pt x="890877" y="0"/>
                  </a:lnTo>
                  <a:lnTo>
                    <a:pt x="2149983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4811" y="492813"/>
              <a:ext cx="857063" cy="15962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022790"/>
              <a:ext cx="4224337" cy="3941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35937" y="4382884"/>
              <a:ext cx="708063" cy="1596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6258" y="4571999"/>
              <a:ext cx="417741" cy="15962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5560" y="1720126"/>
            <a:ext cx="3886200" cy="11417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dirty="0" sz="2400" b="0">
                <a:solidFill>
                  <a:srgbClr val="000000"/>
                </a:solidFill>
                <a:latin typeface="Arial Black"/>
                <a:cs typeface="Arial Black"/>
              </a:rPr>
              <a:t>Sales</a:t>
            </a:r>
            <a:r>
              <a:rPr dirty="0" sz="2400" spc="-45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Arial Black"/>
                <a:cs typeface="Arial Black"/>
              </a:rPr>
              <a:t>Business </a:t>
            </a:r>
            <a:r>
              <a:rPr dirty="0" sz="2400" b="0">
                <a:solidFill>
                  <a:srgbClr val="000000"/>
                </a:solidFill>
                <a:latin typeface="Arial Black"/>
                <a:cs typeface="Arial Black"/>
              </a:rPr>
              <a:t>Intelligence</a:t>
            </a:r>
            <a:r>
              <a:rPr dirty="0" sz="2400" spc="-90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Arial Black"/>
                <a:cs typeface="Arial Black"/>
              </a:rPr>
              <a:t>Dashboard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4025" y="3086773"/>
            <a:ext cx="33108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3185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6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6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6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6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2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6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4134" y="3536237"/>
            <a:ext cx="1229995" cy="97980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2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2039"/>
              </a:lnSpc>
              <a:spcBef>
                <a:spcPts val="95"/>
              </a:spcBef>
            </a:pPr>
            <a:r>
              <a:rPr dirty="0" sz="1400" spc="-10" b="1">
                <a:solidFill>
                  <a:srgbClr val="0D358D"/>
                </a:solidFill>
                <a:latin typeface="Arial"/>
                <a:cs typeface="Arial"/>
              </a:rPr>
              <a:t>Dhanalakshmi Kalyani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400" spc="-10" b="1">
                <a:solidFill>
                  <a:srgbClr val="0D358D"/>
                </a:solidFill>
                <a:latin typeface="Arial"/>
                <a:cs typeface="Arial"/>
              </a:rPr>
              <a:t>Elakia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1662" y="3593846"/>
            <a:ext cx="395330" cy="3818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2217470" y="3505426"/>
            <a:ext cx="2213610" cy="149796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1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2039"/>
              </a:lnSpc>
              <a:spcBef>
                <a:spcPts val="60"/>
              </a:spcBef>
            </a:pPr>
            <a:r>
              <a:rPr dirty="0" u="sng" sz="1400" spc="-10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"/>
                <a:cs typeface="Arial"/>
                <a:hlinkClick r:id="rId11"/>
              </a:rPr>
              <a:t>dhanalakshminadar04@g</a:t>
            </a:r>
            <a:r>
              <a:rPr dirty="0" sz="1400" spc="-10" b="1">
                <a:solidFill>
                  <a:srgbClr val="467885"/>
                </a:solidFill>
                <a:latin typeface="Arial"/>
                <a:cs typeface="Arial"/>
              </a:rPr>
              <a:t> </a:t>
            </a:r>
            <a:r>
              <a:rPr dirty="0" u="sng" sz="1400" spc="-10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"/>
                <a:cs typeface="Arial"/>
                <a:hlinkClick r:id="rId11"/>
              </a:rPr>
              <a:t>mail.com</a:t>
            </a:r>
            <a:r>
              <a:rPr dirty="0" sz="1400" spc="-10" b="1">
                <a:solidFill>
                  <a:srgbClr val="467885"/>
                </a:solidFill>
                <a:latin typeface="Arial"/>
                <a:cs typeface="Arial"/>
              </a:rPr>
              <a:t> </a:t>
            </a:r>
            <a:r>
              <a:rPr dirty="0" u="sng" sz="1400" spc="-10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"/>
                <a:cs typeface="Arial"/>
                <a:hlinkClick r:id="rId12"/>
              </a:rPr>
              <a:t>kkaallyyaannii123@gmail.</a:t>
            </a:r>
            <a:r>
              <a:rPr dirty="0" sz="1400" spc="-10" b="1">
                <a:solidFill>
                  <a:srgbClr val="467885"/>
                </a:solidFill>
                <a:latin typeface="Arial"/>
                <a:cs typeface="Arial"/>
              </a:rPr>
              <a:t> </a:t>
            </a:r>
            <a:r>
              <a:rPr dirty="0" u="sng" sz="1400" spc="-25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"/>
                <a:cs typeface="Arial"/>
                <a:hlinkClick r:id="rId12"/>
              </a:rPr>
              <a:t>com</a:t>
            </a:r>
            <a:r>
              <a:rPr dirty="0" sz="1400" spc="-25" b="1">
                <a:solidFill>
                  <a:srgbClr val="467885"/>
                </a:solidFill>
                <a:latin typeface="Arial"/>
                <a:cs typeface="Arial"/>
              </a:rPr>
              <a:t> </a:t>
            </a:r>
            <a:r>
              <a:rPr dirty="0" u="sng" sz="1400" spc="-10" b="1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"/>
                <a:cs typeface="Arial"/>
                <a:hlinkClick r:id="rId13"/>
              </a:rPr>
              <a:t>eellaakkiiaa123@gmail.co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01329" y="3550411"/>
            <a:ext cx="398278" cy="389724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114671" y="3925466"/>
            <a:ext cx="657860" cy="46228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000" spc="-10">
                <a:latin typeface="Arial"/>
                <a:cs typeface="Arial"/>
              </a:rPr>
              <a:t>Guide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400" spc="-10" b="1">
                <a:solidFill>
                  <a:srgbClr val="0D358D"/>
                </a:solidFill>
                <a:latin typeface="Arial"/>
                <a:cs typeface="Arial"/>
              </a:rPr>
              <a:t>Akshay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28531" y="723116"/>
            <a:ext cx="4667885" cy="3631565"/>
            <a:chOff x="428531" y="723116"/>
            <a:chExt cx="4667885" cy="3631565"/>
          </a:xfrm>
        </p:grpSpPr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0348" y="3973156"/>
              <a:ext cx="375814" cy="38106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8531" y="774724"/>
              <a:ext cx="1010861" cy="22732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7167" y="807514"/>
              <a:ext cx="632877" cy="15885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38119" y="800733"/>
              <a:ext cx="564447" cy="18357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95445" y="800733"/>
              <a:ext cx="361682" cy="18472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48598" y="723116"/>
              <a:ext cx="564448" cy="3586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3978" y="1031503"/>
            <a:ext cx="2970530" cy="303276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Abstract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Problem </a:t>
            </a:r>
            <a:r>
              <a:rPr dirty="0" sz="1800" spc="-1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Proposed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System</a:t>
            </a:r>
            <a:r>
              <a:rPr dirty="0" sz="1800" spc="-10">
                <a:latin typeface="Arial"/>
                <a:cs typeface="Arial"/>
              </a:rPr>
              <a:t> Architecture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Live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Project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Screenshots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Future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6641" y="840676"/>
            <a:ext cx="2868701" cy="3290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2172" y="1016642"/>
            <a:ext cx="5466080" cy="344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dirty="0" sz="1800">
                <a:latin typeface="Arial"/>
                <a:cs typeface="Arial"/>
              </a:rPr>
              <a:t>Cleaned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messy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retail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meaningful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insights.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7815" marR="878840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"/>
                <a:cs typeface="Arial"/>
              </a:rPr>
              <a:t>Handled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duplicates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values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for </a:t>
            </a:r>
            <a:r>
              <a:rPr dirty="0" sz="1800" spc="-10">
                <a:latin typeface="Arial"/>
                <a:cs typeface="Arial"/>
              </a:rPr>
              <a:t>accuracy.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"/>
                <a:cs typeface="Arial"/>
              </a:rPr>
              <a:t>Used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Excel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Power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BI,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analysis.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"/>
                <a:cs typeface="Arial"/>
              </a:rPr>
              <a:t>Enabled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natural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language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exploration.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7815" marR="701040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sz="1800">
                <a:latin typeface="Arial"/>
                <a:cs typeface="Arial"/>
              </a:rPr>
              <a:t>Improved</a:t>
            </a:r>
            <a:r>
              <a:rPr dirty="0" sz="1800" spc="-10">
                <a:latin typeface="Arial"/>
                <a:cs typeface="Arial"/>
              </a:rPr>
              <a:t> decision-</a:t>
            </a:r>
            <a:r>
              <a:rPr dirty="0" sz="1800">
                <a:latin typeface="Arial"/>
                <a:cs typeface="Arial"/>
              </a:rPr>
              <a:t>making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performance tracking.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1745" y="1168166"/>
            <a:ext cx="3070453" cy="29978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3978" y="1133104"/>
            <a:ext cx="4497070" cy="334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46482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often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inconsistent,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missing,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or </a:t>
            </a:r>
            <a:r>
              <a:rPr dirty="0" sz="1800" spc="-10">
                <a:latin typeface="Arial"/>
                <a:cs typeface="Arial"/>
              </a:rPr>
              <a:t>duplicated.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41300" marR="55245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dirty="0" sz="1800">
                <a:latin typeface="Arial"/>
                <a:cs typeface="Arial"/>
              </a:rPr>
              <a:t>Poor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quality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leads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inaccurate </a:t>
            </a:r>
            <a:r>
              <a:rPr dirty="0" sz="1800">
                <a:latin typeface="Arial"/>
                <a:cs typeface="Arial"/>
              </a:rPr>
              <a:t>business </a:t>
            </a:r>
            <a:r>
              <a:rPr dirty="0" sz="1800" spc="-10">
                <a:latin typeface="Arial"/>
                <a:cs typeface="Arial"/>
              </a:rPr>
              <a:t>insights.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41300" marR="508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dirty="0" sz="1800">
                <a:latin typeface="Arial"/>
                <a:cs typeface="Arial"/>
              </a:rPr>
              <a:t>Manual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processing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slow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error- prone.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41300" marR="335915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dirty="0" sz="1800">
                <a:latin typeface="Arial"/>
                <a:cs typeface="Arial"/>
              </a:rPr>
              <a:t>Hidden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valuable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customer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product insights.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9683" y="829655"/>
            <a:ext cx="4446765" cy="3523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8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80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8365" rIns="0" bIns="0" rtlCol="0" vert="horz">
            <a:spAutoFit/>
          </a:bodyPr>
          <a:lstStyle/>
          <a:p>
            <a:pPr marL="27305" marR="9144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Combines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Excel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Power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 </a:t>
            </a:r>
            <a:r>
              <a:rPr dirty="0" spc="-10">
                <a:solidFill>
                  <a:srgbClr val="000000"/>
                </a:solidFill>
              </a:rPr>
              <a:t>interactive visuals.</a:t>
            </a:r>
          </a:p>
          <a:p>
            <a:pPr marL="27305" marR="5080">
              <a:lnSpc>
                <a:spcPct val="137000"/>
              </a:lnSpc>
            </a:pPr>
            <a:r>
              <a:rPr dirty="0">
                <a:solidFill>
                  <a:srgbClr val="000000"/>
                </a:solidFill>
              </a:rPr>
              <a:t>Replaces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static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reports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dynamic</a:t>
            </a:r>
            <a:r>
              <a:rPr dirty="0" spc="-10">
                <a:solidFill>
                  <a:srgbClr val="000000"/>
                </a:solidFill>
              </a:rPr>
              <a:t> insights. </a:t>
            </a:r>
            <a:r>
              <a:rPr dirty="0">
                <a:solidFill>
                  <a:srgbClr val="000000"/>
                </a:solidFill>
              </a:rPr>
              <a:t>Enables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faster, </a:t>
            </a:r>
            <a:r>
              <a:rPr dirty="0" spc="-10">
                <a:solidFill>
                  <a:srgbClr val="000000"/>
                </a:solidFill>
              </a:rPr>
              <a:t>real-</a:t>
            </a:r>
            <a:r>
              <a:rPr dirty="0">
                <a:solidFill>
                  <a:srgbClr val="000000"/>
                </a:solidFill>
              </a:rPr>
              <a:t>time business </a:t>
            </a:r>
            <a:r>
              <a:rPr dirty="0" spc="-10">
                <a:solidFill>
                  <a:srgbClr val="000000"/>
                </a:solidFill>
              </a:rPr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8931" y="1504924"/>
            <a:ext cx="4313034" cy="3445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85"/>
              <a:t> </a:t>
            </a:r>
            <a:r>
              <a:rPr dirty="0" spc="-10"/>
              <a:t>Architecture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52550"/>
            <a:ext cx="3276600" cy="578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5900" y="1486966"/>
            <a:ext cx="3378835" cy="87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Raw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Sales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Datasets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Kaggle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1" y="2891193"/>
            <a:ext cx="3276599" cy="57823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15900" y="3025609"/>
            <a:ext cx="3949700" cy="115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Dashboard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Dynamic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dashboard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sales, </a:t>
            </a:r>
            <a:r>
              <a:rPr dirty="0" sz="1800">
                <a:latin typeface="Arial"/>
                <a:cs typeface="Arial"/>
              </a:rPr>
              <a:t>insights,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KPI’s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trends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4052" y="1352550"/>
            <a:ext cx="3276600" cy="57823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38839" y="1486966"/>
            <a:ext cx="965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4064" y="2891193"/>
            <a:ext cx="3276600" cy="57823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838839" y="3025609"/>
            <a:ext cx="85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59300" y="2061959"/>
            <a:ext cx="38627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Clean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Power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BI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59300" y="3602507"/>
            <a:ext cx="413892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Generated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dashboards,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KPI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reports,</a:t>
            </a:r>
            <a:r>
              <a:rPr dirty="0" sz="1800" spc="-25">
                <a:latin typeface="Arial"/>
                <a:cs typeface="Arial"/>
              </a:rPr>
              <a:t> and </a:t>
            </a:r>
            <a:r>
              <a:rPr dirty="0" sz="1800">
                <a:latin typeface="Arial"/>
                <a:cs typeface="Arial"/>
              </a:rPr>
              <a:t>sales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dirty="0" spc="-30"/>
              <a:t> </a:t>
            </a:r>
            <a:r>
              <a:rPr dirty="0"/>
              <a:t>Demo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10"/>
              <a:t>Project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69057" y="1505750"/>
            <a:ext cx="8035290" cy="3282315"/>
            <a:chOff x="669057" y="1505750"/>
            <a:chExt cx="8035290" cy="32823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45" y="2340686"/>
              <a:ext cx="2574048" cy="23945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21445" y="2340686"/>
              <a:ext cx="2574290" cy="2395220"/>
            </a:xfrm>
            <a:custGeom>
              <a:avLst/>
              <a:gdLst/>
              <a:ahLst/>
              <a:cxnLst/>
              <a:rect l="l" t="t" r="r" b="b"/>
              <a:pathLst>
                <a:path w="2574290" h="2395220">
                  <a:moveTo>
                    <a:pt x="0" y="0"/>
                  </a:moveTo>
                  <a:lnTo>
                    <a:pt x="2574048" y="0"/>
                  </a:lnTo>
                  <a:lnTo>
                    <a:pt x="2574048" y="2394597"/>
                  </a:lnTo>
                  <a:lnTo>
                    <a:pt x="0" y="2394597"/>
                  </a:lnTo>
                  <a:lnTo>
                    <a:pt x="0" y="0"/>
                  </a:lnTo>
                  <a:close/>
                </a:path>
              </a:pathLst>
            </a:custGeom>
            <a:ln w="104774">
              <a:solidFill>
                <a:srgbClr val="0428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9548" y="2340686"/>
              <a:ext cx="2574048" cy="239459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399548" y="2340686"/>
              <a:ext cx="2574290" cy="2395220"/>
            </a:xfrm>
            <a:custGeom>
              <a:avLst/>
              <a:gdLst/>
              <a:ahLst/>
              <a:cxnLst/>
              <a:rect l="l" t="t" r="r" b="b"/>
              <a:pathLst>
                <a:path w="2574290" h="2395220">
                  <a:moveTo>
                    <a:pt x="0" y="0"/>
                  </a:moveTo>
                  <a:lnTo>
                    <a:pt x="2574048" y="0"/>
                  </a:lnTo>
                  <a:lnTo>
                    <a:pt x="2574048" y="2394597"/>
                  </a:lnTo>
                  <a:lnTo>
                    <a:pt x="0" y="2394597"/>
                  </a:lnTo>
                  <a:lnTo>
                    <a:pt x="0" y="0"/>
                  </a:lnTo>
                  <a:close/>
                </a:path>
              </a:pathLst>
            </a:custGeom>
            <a:ln w="104774">
              <a:solidFill>
                <a:srgbClr val="0428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355" y="1591475"/>
              <a:ext cx="1022234" cy="102223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497355" y="1591475"/>
              <a:ext cx="1022350" cy="1022350"/>
            </a:xfrm>
            <a:custGeom>
              <a:avLst/>
              <a:gdLst/>
              <a:ahLst/>
              <a:cxnLst/>
              <a:rect l="l" t="t" r="r" b="b"/>
              <a:pathLst>
                <a:path w="1022350" h="1022350">
                  <a:moveTo>
                    <a:pt x="722751" y="0"/>
                  </a:moveTo>
                  <a:lnTo>
                    <a:pt x="1022234" y="299478"/>
                  </a:lnTo>
                  <a:lnTo>
                    <a:pt x="1022234" y="722757"/>
                  </a:lnTo>
                  <a:lnTo>
                    <a:pt x="722751" y="1022235"/>
                  </a:lnTo>
                  <a:lnTo>
                    <a:pt x="299482" y="1022235"/>
                  </a:lnTo>
                  <a:lnTo>
                    <a:pt x="0" y="722757"/>
                  </a:lnTo>
                  <a:lnTo>
                    <a:pt x="0" y="299478"/>
                  </a:lnTo>
                  <a:lnTo>
                    <a:pt x="299482" y="0"/>
                  </a:lnTo>
                  <a:lnTo>
                    <a:pt x="722751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7636" y="2340686"/>
              <a:ext cx="2574048" cy="239459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077636" y="2340686"/>
              <a:ext cx="2574290" cy="2395220"/>
            </a:xfrm>
            <a:custGeom>
              <a:avLst/>
              <a:gdLst/>
              <a:ahLst/>
              <a:cxnLst/>
              <a:rect l="l" t="t" r="r" b="b"/>
              <a:pathLst>
                <a:path w="2574290" h="2395220">
                  <a:moveTo>
                    <a:pt x="0" y="0"/>
                  </a:moveTo>
                  <a:lnTo>
                    <a:pt x="2574048" y="0"/>
                  </a:lnTo>
                  <a:lnTo>
                    <a:pt x="2574048" y="2394597"/>
                  </a:lnTo>
                  <a:lnTo>
                    <a:pt x="0" y="2394597"/>
                  </a:lnTo>
                  <a:lnTo>
                    <a:pt x="0" y="0"/>
                  </a:lnTo>
                  <a:close/>
                </a:path>
              </a:pathLst>
            </a:custGeom>
            <a:ln w="104774">
              <a:solidFill>
                <a:srgbClr val="0428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6209" y="1537411"/>
              <a:ext cx="1140706" cy="114070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1903" y="1591475"/>
              <a:ext cx="1022234" cy="102223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851903" y="1591475"/>
              <a:ext cx="1022350" cy="1022350"/>
            </a:xfrm>
            <a:custGeom>
              <a:avLst/>
              <a:gdLst/>
              <a:ahLst/>
              <a:cxnLst/>
              <a:rect l="l" t="t" r="r" b="b"/>
              <a:pathLst>
                <a:path w="1022350" h="1022350">
                  <a:moveTo>
                    <a:pt x="722751" y="0"/>
                  </a:moveTo>
                  <a:lnTo>
                    <a:pt x="1022234" y="299478"/>
                  </a:lnTo>
                  <a:lnTo>
                    <a:pt x="1022234" y="722757"/>
                  </a:lnTo>
                  <a:lnTo>
                    <a:pt x="722751" y="1022235"/>
                  </a:lnTo>
                  <a:lnTo>
                    <a:pt x="299482" y="1022235"/>
                  </a:lnTo>
                  <a:lnTo>
                    <a:pt x="0" y="722757"/>
                  </a:lnTo>
                  <a:lnTo>
                    <a:pt x="0" y="299478"/>
                  </a:lnTo>
                  <a:lnTo>
                    <a:pt x="299482" y="0"/>
                  </a:lnTo>
                  <a:lnTo>
                    <a:pt x="722751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169844" y="2656992"/>
            <a:ext cx="1677670" cy="1702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algn="ctr" marL="101600" marR="9398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dummy conten</a:t>
            </a:r>
            <a:endParaRPr sz="1800">
              <a:latin typeface="Arial"/>
              <a:cs typeface="Arial"/>
            </a:endParaRPr>
          </a:p>
          <a:p>
            <a:pPr marL="457200" marR="5080" indent="-445134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 the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heading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54246" y="2656992"/>
            <a:ext cx="1664970" cy="142811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19100">
              <a:lnSpc>
                <a:spcPct val="100000"/>
              </a:lnSpc>
              <a:spcBef>
                <a:spcPts val="13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algn="just" marL="12700" marR="5080" indent="8255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dummy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heading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19150" y="2656992"/>
            <a:ext cx="1664970" cy="142811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13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algn="just" marL="12700" marR="5080" indent="8255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dummy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heading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23843" y="1490256"/>
            <a:ext cx="7631430" cy="3202940"/>
            <a:chOff x="923843" y="1490256"/>
            <a:chExt cx="7631430" cy="3202940"/>
          </a:xfrm>
        </p:grpSpPr>
        <p:sp>
          <p:nvSpPr>
            <p:cNvPr id="19" name="object 19" descr=""/>
            <p:cNvSpPr/>
            <p:nvPr/>
          </p:nvSpPr>
          <p:spPr>
            <a:xfrm>
              <a:off x="4173816" y="1575981"/>
              <a:ext cx="1053465" cy="1053465"/>
            </a:xfrm>
            <a:custGeom>
              <a:avLst/>
              <a:gdLst/>
              <a:ahLst/>
              <a:cxnLst/>
              <a:rect l="l" t="t" r="r" b="b"/>
              <a:pathLst>
                <a:path w="1053464" h="1053464">
                  <a:moveTo>
                    <a:pt x="744663" y="0"/>
                  </a:moveTo>
                  <a:lnTo>
                    <a:pt x="1053226" y="308559"/>
                  </a:lnTo>
                  <a:lnTo>
                    <a:pt x="1053226" y="744664"/>
                  </a:lnTo>
                  <a:lnTo>
                    <a:pt x="744663" y="1053223"/>
                  </a:lnTo>
                  <a:lnTo>
                    <a:pt x="308561" y="1053223"/>
                  </a:lnTo>
                  <a:lnTo>
                    <a:pt x="0" y="744664"/>
                  </a:lnTo>
                  <a:lnTo>
                    <a:pt x="0" y="308559"/>
                  </a:lnTo>
                  <a:lnTo>
                    <a:pt x="308561" y="0"/>
                  </a:lnTo>
                  <a:lnTo>
                    <a:pt x="744663" y="0"/>
                  </a:lnTo>
                  <a:close/>
                </a:path>
              </a:pathLst>
            </a:custGeom>
            <a:ln w="17145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3843" y="2676575"/>
              <a:ext cx="2191867" cy="201617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8732" y="2735884"/>
              <a:ext cx="2286139" cy="17589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6581" y="2735884"/>
              <a:ext cx="2431364" cy="1739773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215900" y="1118003"/>
            <a:ext cx="4559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Here’s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list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projects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30"/>
              <a:t> </a:t>
            </a:r>
            <a:r>
              <a:rPr dirty="0"/>
              <a:t>Demo</a:t>
            </a:r>
            <a:r>
              <a:rPr dirty="0" spc="-30"/>
              <a:t> </a:t>
            </a:r>
            <a:r>
              <a:rPr dirty="0" spc="-10"/>
              <a:t>Screenshots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106697"/>
            <a:ext cx="7871790" cy="3870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5901" y="1117784"/>
            <a:ext cx="5682615" cy="317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34798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Successfully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collected,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cleaned,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analyzed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>
                <a:latin typeface="Arial"/>
                <a:cs typeface="Arial"/>
              </a:rPr>
              <a:t>dataset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generate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meaningful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insights.</a:t>
            </a:r>
            <a:endParaRPr sz="1800">
              <a:latin typeface="Arial"/>
              <a:cs typeface="Arial"/>
            </a:endParaRPr>
          </a:p>
          <a:p>
            <a:pPr marL="298450" marR="831215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Created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interactive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dashboards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visualize </a:t>
            </a:r>
            <a:r>
              <a:rPr dirty="0" sz="1800">
                <a:latin typeface="Arial"/>
                <a:cs typeface="Arial"/>
              </a:rPr>
              <a:t>important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trends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indicators.</a:t>
            </a:r>
            <a:endParaRPr sz="1800">
              <a:latin typeface="Arial"/>
              <a:cs typeface="Arial"/>
            </a:endParaRPr>
          </a:p>
          <a:p>
            <a:pPr marL="298450" marR="346710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Improved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understanding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business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performance </a:t>
            </a:r>
            <a:r>
              <a:rPr dirty="0" sz="1800">
                <a:latin typeface="Arial"/>
                <a:cs typeface="Arial"/>
              </a:rPr>
              <a:t>through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clear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organized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visualizations.</a:t>
            </a:r>
            <a:endParaRPr sz="1800">
              <a:latin typeface="Arial"/>
              <a:cs typeface="Arial"/>
            </a:endParaRPr>
          </a:p>
          <a:p>
            <a:pPr marL="298450" marR="513715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Transformed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raw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useful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information</a:t>
            </a:r>
            <a:r>
              <a:rPr dirty="0" sz="1800" spc="-25">
                <a:latin typeface="Arial"/>
                <a:cs typeface="Arial"/>
              </a:rPr>
              <a:t> for </a:t>
            </a:r>
            <a:r>
              <a:rPr dirty="0" sz="1800">
                <a:latin typeface="Arial"/>
                <a:cs typeface="Arial"/>
              </a:rPr>
              <a:t>better </a:t>
            </a:r>
            <a:r>
              <a:rPr dirty="0" sz="1800" spc="-10">
                <a:latin typeface="Arial"/>
                <a:cs typeface="Arial"/>
              </a:rPr>
              <a:t>decision-</a:t>
            </a:r>
            <a:r>
              <a:rPr dirty="0" sz="1800">
                <a:latin typeface="Arial"/>
                <a:cs typeface="Arial"/>
              </a:rPr>
              <a:t>making and </a:t>
            </a:r>
            <a:r>
              <a:rPr dirty="0" sz="1800" spc="-10">
                <a:latin typeface="Arial"/>
                <a:cs typeface="Arial"/>
              </a:rPr>
              <a:t>analysis.</a:t>
            </a:r>
            <a:endParaRPr sz="18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Demonstrated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effectiveness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analytics</a:t>
            </a:r>
            <a:r>
              <a:rPr dirty="0" sz="1800" spc="-25">
                <a:latin typeface="Arial"/>
                <a:cs typeface="Arial"/>
              </a:rPr>
              <a:t> and </a:t>
            </a:r>
            <a:r>
              <a:rPr dirty="0" sz="1800">
                <a:latin typeface="Arial"/>
                <a:cs typeface="Arial"/>
              </a:rPr>
              <a:t>visualization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supporting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strategic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planning.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725" y="1135322"/>
            <a:ext cx="2675585" cy="3265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60"/>
              <a:t> </a:t>
            </a:r>
            <a:r>
              <a:rPr dirty="0" spc="-20"/>
              <a:t>Scope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7217" y="1181906"/>
            <a:ext cx="3024098" cy="321048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15900" y="1123736"/>
            <a:ext cx="5544820" cy="344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1778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800" spc="-10">
                <a:latin typeface="Arial"/>
                <a:cs typeface="Arial"/>
              </a:rPr>
              <a:t>AI-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analytics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integrated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future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to </a:t>
            </a:r>
            <a:r>
              <a:rPr dirty="0" sz="1800">
                <a:latin typeface="Arial"/>
                <a:cs typeface="Arial"/>
              </a:rPr>
              <a:t>provide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smarter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automated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insights.</a:t>
            </a:r>
            <a:endParaRPr sz="1800">
              <a:latin typeface="Arial"/>
              <a:cs typeface="Arial"/>
            </a:endParaRPr>
          </a:p>
          <a:p>
            <a:pPr marL="298450" marR="6350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analysis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added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forecast</a:t>
            </a:r>
            <a:r>
              <a:rPr dirty="0" sz="1800" spc="-10">
                <a:latin typeface="Arial"/>
                <a:cs typeface="Arial"/>
              </a:rPr>
              <a:t> trends, </a:t>
            </a:r>
            <a:r>
              <a:rPr dirty="0" sz="1800">
                <a:latin typeface="Arial"/>
                <a:cs typeface="Arial"/>
              </a:rPr>
              <a:t>sales,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accurately.</a:t>
            </a:r>
            <a:endParaRPr sz="1800">
              <a:latin typeface="Arial"/>
              <a:cs typeface="Arial"/>
            </a:endParaRPr>
          </a:p>
          <a:p>
            <a:pPr marL="298450" marR="184785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 spc="-10">
                <a:latin typeface="Arial"/>
                <a:cs typeface="Arial"/>
              </a:rPr>
              <a:t>Real-</a:t>
            </a:r>
            <a:r>
              <a:rPr dirty="0" sz="1800">
                <a:latin typeface="Arial"/>
                <a:cs typeface="Arial"/>
              </a:rPr>
              <a:t>time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integration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monitoring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decision-</a:t>
            </a:r>
            <a:r>
              <a:rPr dirty="0" sz="1800">
                <a:latin typeface="Arial"/>
                <a:cs typeface="Arial"/>
              </a:rPr>
              <a:t>making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efficiency.</a:t>
            </a:r>
            <a:endParaRPr sz="1800">
              <a:latin typeface="Arial"/>
              <a:cs typeface="Arial"/>
            </a:endParaRPr>
          </a:p>
          <a:p>
            <a:pPr marL="298450" marR="220979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Advanced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interactive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dashboards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automation </a:t>
            </a:r>
            <a:r>
              <a:rPr dirty="0" sz="1800">
                <a:latin typeface="Arial"/>
                <a:cs typeface="Arial"/>
              </a:rPr>
              <a:t>features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user</a:t>
            </a:r>
            <a:r>
              <a:rPr dirty="0" sz="1800" spc="-10">
                <a:latin typeface="Arial"/>
                <a:cs typeface="Arial"/>
              </a:rPr>
              <a:t> experience.</a:t>
            </a:r>
            <a:endParaRPr sz="18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800"/>
              </a:spcBef>
              <a:buChar char="•"/>
              <a:tabLst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project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expanded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machine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learning </a:t>
            </a:r>
            <a:r>
              <a:rPr dirty="0" sz="1800">
                <a:latin typeface="Arial"/>
                <a:cs typeface="Arial"/>
              </a:rPr>
              <a:t>models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better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recommendations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0">
                <a:latin typeface="Arial"/>
                <a:cs typeface="Arial"/>
              </a:rPr>
              <a:t> business planning.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Reference: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3303" y="891888"/>
            <a:ext cx="8275320" cy="3667760"/>
            <a:chOff x="493303" y="891888"/>
            <a:chExt cx="8275320" cy="36677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1749" y="891888"/>
              <a:ext cx="3456470" cy="366758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9653" y="1607969"/>
              <a:ext cx="4854575" cy="274320"/>
            </a:xfrm>
            <a:custGeom>
              <a:avLst/>
              <a:gdLst/>
              <a:ahLst/>
              <a:cxnLst/>
              <a:rect l="l" t="t" r="r" b="b"/>
              <a:pathLst>
                <a:path w="4854575" h="274319">
                  <a:moveTo>
                    <a:pt x="0" y="0"/>
                  </a:moveTo>
                  <a:lnTo>
                    <a:pt x="4841430" y="0"/>
                  </a:lnTo>
                </a:path>
                <a:path w="4854575" h="274319">
                  <a:moveTo>
                    <a:pt x="0" y="274319"/>
                  </a:moveTo>
                  <a:lnTo>
                    <a:pt x="4854155" y="274319"/>
                  </a:lnTo>
                </a:path>
              </a:pathLst>
            </a:custGeom>
            <a:ln w="12699">
              <a:solidFill>
                <a:srgbClr val="4678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GitHub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Link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: </a:t>
            </a:r>
            <a:r>
              <a:rPr dirty="0" spc="-10">
                <a:hlinkClick r:id="rId3"/>
              </a:rPr>
              <a:t>https://github.com/mattdelaune/PowerBI_Health</a:t>
            </a:r>
            <a:r>
              <a:rPr dirty="0" spc="-10"/>
              <a:t> </a:t>
            </a:r>
            <a:r>
              <a:rPr dirty="0" spc="-10">
                <a:hlinkClick r:id="rId3"/>
              </a:rPr>
              <a:t>care_Dashboard/blob/master/Hospital%20Inight</a:t>
            </a:r>
            <a:r>
              <a:rPr dirty="0" spc="-10"/>
              <a:t> </a:t>
            </a:r>
            <a:r>
              <a:rPr dirty="0" u="sng" spc="-10">
                <a:uFill>
                  <a:solidFill>
                    <a:srgbClr val="467885"/>
                  </a:solidFill>
                </a:uFill>
                <a:hlinkClick r:id="rId3"/>
              </a:rPr>
              <a:t>s%20Dashboard.pbix</a:t>
            </a: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</a:p>
          <a:p>
            <a:pPr marL="297815" marR="52705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>
                <a:solidFill>
                  <a:srgbClr val="000000"/>
                </a:solidFill>
              </a:rPr>
              <a:t>YouTube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Link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: </a:t>
            </a:r>
            <a:r>
              <a:rPr dirty="0" u="sng" spc="-10">
                <a:uFill>
                  <a:solidFill>
                    <a:srgbClr val="467885"/>
                  </a:solidFill>
                </a:uFill>
                <a:hlinkClick r:id="rId4"/>
              </a:rPr>
              <a:t>https://www.youtube.com/results?search_query</a:t>
            </a:r>
          </a:p>
          <a:p>
            <a:pPr marL="297815">
              <a:lnSpc>
                <a:spcPct val="100000"/>
              </a:lnSpc>
            </a:pPr>
            <a:r>
              <a:rPr dirty="0" u="sng" spc="-10">
                <a:uFill>
                  <a:solidFill>
                    <a:srgbClr val="467885"/>
                  </a:solidFill>
                </a:uFill>
                <a:hlinkClick r:id="rId4"/>
              </a:rPr>
              <a:t>=power+bi+healthcare+dashboard+tutorial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</a:p>
          <a:p>
            <a:pPr marL="297815" marR="43180" indent="-28575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dirty="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Research</a:t>
            </a:r>
            <a:r>
              <a:rPr dirty="0" u="sng" spc="-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Paper</a:t>
            </a:r>
            <a:r>
              <a:rPr dirty="0" u="sng" spc="-2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Link: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10">
                <a:hlinkClick r:id="rId5"/>
              </a:rPr>
              <a:t>https://journal.ijresm.com/index.php/ijresm/articl</a:t>
            </a:r>
            <a:r>
              <a:rPr dirty="0" spc="-10"/>
              <a:t> </a:t>
            </a:r>
            <a:r>
              <a:rPr dirty="0" u="sng" spc="-10">
                <a:uFill>
                  <a:solidFill>
                    <a:srgbClr val="467885"/>
                  </a:solidFill>
                </a:uFill>
                <a:hlinkClick r:id="rId5"/>
              </a:rPr>
              <a:t>e/view/2670?utm_source=chatgpt.com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499653" y="4076849"/>
            <a:ext cx="4815205" cy="0"/>
          </a:xfrm>
          <a:custGeom>
            <a:avLst/>
            <a:gdLst/>
            <a:ahLst/>
            <a:cxnLst/>
            <a:rect l="l" t="t" r="r" b="b"/>
            <a:pathLst>
              <a:path w="4815205" h="0">
                <a:moveTo>
                  <a:pt x="0" y="0"/>
                </a:moveTo>
                <a:lnTo>
                  <a:pt x="4814976" y="0"/>
                </a:lnTo>
              </a:path>
            </a:pathLst>
          </a:custGeom>
          <a:ln w="12699">
            <a:solidFill>
              <a:srgbClr val="46788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6636" y="2350046"/>
            <a:ext cx="327088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</a:tabLst>
            </a:pPr>
            <a:r>
              <a:rPr dirty="0" sz="5000" spc="-10">
                <a:solidFill>
                  <a:srgbClr val="0D358D"/>
                </a:solidFill>
              </a:rPr>
              <a:t>Thank</a:t>
            </a:r>
            <a:r>
              <a:rPr dirty="0" sz="5000">
                <a:solidFill>
                  <a:srgbClr val="0D358D"/>
                </a:solidFill>
              </a:rPr>
              <a:t>	</a:t>
            </a:r>
            <a:r>
              <a:rPr dirty="0" sz="5000" spc="-25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2026-05-20T23:13:27Z</dcterms:created>
  <dcterms:modified xsi:type="dcterms:W3CDTF">2026-05-20T23:13:27Z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2026-05-20T00:00:00Z</vt:filetime>
  </property>
  <property fmtid="{D5CDD505-2E9C-101B-9397-08002B2CF9AE}" pid="3" name="LastSaved">
    <vt:filetime>2026-05-20T00:00:00Z</vt:filetime>
  </property>
  <property fmtid="{D5CDD505-2E9C-101B-9397-08002B2CF9AE}" pid="4" name="Producer">
    <vt:lpwstr>3-Heights(TM) PDF Security Shell 4.8.25.2 (http://www.pdf-tools.com)</vt:lpwstr>
  </property>
</Properties>
</file>